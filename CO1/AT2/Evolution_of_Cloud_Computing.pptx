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mainframe time-sharing to the AI-driven cloud — six decades of infrastructure reinvention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2011680" cy="0"/>
          </a:xfrm>
          <a:prstGeom prst="line">
            <a:avLst/>
          </a:prstGeom>
          <a:noFill/>
          <a:ln w="25400">
            <a:solidFill>
              <a:srgbClr val="5FD3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617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through five defining eras of modern computing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3" name="Image 0" descr="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34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2920" y="1965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1990s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32004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term "cloud" existed, the core idea was already taking shape: share expensive computing resources across many users instead of owning them outright.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2F6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1" descr="chip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8580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521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257800" y="76809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 Time-Sharing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257800" y="115214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rented processing time on centralized mainframes; multiple users accessed one machine remotely, the earliest form of shared computing resources.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34840" y="20574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2F6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2" descr="netwo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456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5780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257800" y="227685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ARPANET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5257800" y="266090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precursor to the internet connected research computers, laying the networking foundation that remote, shared computing would eventually depend 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434840" y="356616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2F6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3" descr="lay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70332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57800" y="3538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257800" y="37856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257800" y="416966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VM/370 operating system let one physical mainframe run multiple isolated virtual environments — the direct ancestor of today's cloud virtualization.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434840" y="5074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2F6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4" name="Image 4" descr="server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212080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57800" y="5047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257800" y="529437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Salesforce &amp; SaaS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5257800" y="567842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launched enterprise software delivered entirely over the web, proving businesses would pay for applications they never had to install.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BIRTH OF THE CLOUD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2000s: Cloud Goes Commercial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decade the cloud became a real product — not just a concept — with pay-as-you-go infrastructure available to anyone with a credit card.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3246120"/>
            <a:ext cx="781812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136392"/>
            <a:ext cx="256032" cy="25603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Web Services (internal)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began building internal infrastructure services to standardize how its own teams provisioned computing and storage.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3136392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399592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EC2 &amp; S3 Launch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457200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publicly launched Elastic Compute Cloud and Simple Storage Service — widely seen as the birth of modern IaaS cloud computing.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136392"/>
            <a:ext cx="256032" cy="25603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84708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App Engine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77840" y="24231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entered the market with a Platform-as-a-Service offering, letting developers deploy code without managing servers.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41080" y="3136392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399592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83880" y="457200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launched Windows Azure, bringing enterprise customers already invested in Microsoft tools into the cloud.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2010, three models had crystallized: IaaS (infrastructure), PaaS (platform), and SaaS (software) — a framework still used to describe cloud services today.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SCALE &amp; STANDARDIZATION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2010s: Containers, Kubernetes &amp; Hyperscale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dock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385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(2013)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let developers package applications with all dependencies into portable, lightweight units — solving the "it works on my machine" problem for good.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lay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938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514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(2014)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2898648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open-sourced its internal container-orchestration system, giving the industry a standard way to deploy, scale, and manage containerized applications.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9385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514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Hyperscale Growth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46520" y="2898648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and Google Cloud invested billions in global data centers, driving prices down and making enterprise-grade infrastructure accessible to startups.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3" descr="networ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9385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514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&amp; Hybrid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81160" y="2898648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began deliberately spreading workloads across multiple providers and on-premises systems to avoid vendor lock-in and improve resilience.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45262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400" dirty="0"/>
          </a:p>
        </p:txBody>
      </p:sp>
      <p:sp>
        <p:nvSpPr>
          <p:cNvPr id="26" name="Text 20"/>
          <p:cNvSpPr/>
          <p:nvPr/>
        </p:nvSpPr>
        <p:spPr>
          <a:xfrm>
            <a:off x="777240" y="5303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used cloud services by 2019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4343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28" name="Text 22"/>
          <p:cNvSpPr/>
          <p:nvPr/>
        </p:nvSpPr>
        <p:spPr>
          <a:xfrm>
            <a:off x="4480560" y="45262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$250B+</a:t>
            </a:r>
            <a:endParaRPr lang="en-US" sz="3400" dirty="0"/>
          </a:p>
        </p:txBody>
      </p:sp>
      <p:sp>
        <p:nvSpPr>
          <p:cNvPr id="29" name="Text 23"/>
          <p:cNvSpPr/>
          <p:nvPr/>
        </p:nvSpPr>
        <p:spPr>
          <a:xfrm>
            <a:off x="4480560" y="5303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public cloud market size by end of decade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955280" y="4343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31" name="Text 25"/>
          <p:cNvSpPr/>
          <p:nvPr/>
        </p:nvSpPr>
        <p:spPr>
          <a:xfrm>
            <a:off x="8183880" y="45262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8183880" y="5303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came to dominate: AWS, Azure, GCP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MODERN CLOUD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2020s: Serverless, Edge &amp; Everywhere Computing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matured from a place workloads run into an invisible layer woven through nearly every digital product.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pic>
        <p:nvPicPr>
          <p:cNvPr id="6" name="Image 0" descr="rock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385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Computing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251960" y="193852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Functions-as-a-Service (AWS Lambda, Azure Functions) let developers run code without provisioning or managing servers at all — paying only for execution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pic>
        <p:nvPicPr>
          <p:cNvPr id="10" name="Image 1" descr="satellit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1363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900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Computing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251960" y="299008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moved closer to end users and devices, reducing latency for IoT, gaming, and real-time applications by computing near the data source.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pic>
        <p:nvPicPr>
          <p:cNvPr id="14" name="Image 2" descr="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8795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0416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Security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251960" y="404164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architectures and identity-based access became standard as organizations secured distributed, multi-cloud environments by default.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1206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pic>
        <p:nvPicPr>
          <p:cNvPr id="18" name="Image 3" descr="leaf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23951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09320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Cloud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4251960" y="509320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committed to carbon-neutral and carbon-negative data centers, with efficiency becoming a competitive differentiator, not just a cost concern.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NEXT INFLECTION POINT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Cloud Convergence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generative AI has reshaped what cloud infrastructure needs to deliver — turning compute-intensive AI workloads into the cloud's biggest growth driver.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749040" cy="4206240"/>
          </a:xfrm>
          <a:prstGeom prst="roundRect">
            <a:avLst>
              <a:gd name="adj" fmla="val 2927"/>
            </a:avLst>
          </a:prstGeom>
          <a:solidFill>
            <a:srgbClr val="065A82"/>
          </a:solidFill>
          <a:ln/>
        </p:spPr>
      </p:sp>
      <p:pic>
        <p:nvPicPr>
          <p:cNvPr id="6" name="Image 0" descr="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2316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49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GPU-First Infrastructure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 now race to build massive GPU clusters, purpose-built for training and running large AI models at scale.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201168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2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011680"/>
            <a:ext cx="73152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2130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AI Platforms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92040" y="2514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Bedrock, Azure AI Foundry, and Google Vertex AI let businesses build on foundation models without managing any underlying infrastructure.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0" y="342900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2F6F8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3429000"/>
            <a:ext cx="73152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35478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AI-Optimized Chips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silicon — AWS Trainium, Google TPUs, Azure Maia — emerged alongside GPUs to cut the cost of training and serving AI at scale.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0" y="484632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2F6F8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4846320"/>
            <a:ext cx="73152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49651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at the Edge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5349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distilled models increasingly run closer to users, blending cloud training with edge inference for speed and privacy.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LOOKING AHEAD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Decades in Review — and 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00200" y="2057400"/>
            <a:ext cx="85953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874520"/>
            <a:ext cx="365760" cy="36576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1950s–90s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874520"/>
            <a:ext cx="365760" cy="36576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697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1874520"/>
            <a:ext cx="365760" cy="36576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365760" cy="36576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2697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1874520"/>
            <a:ext cx="365760" cy="365760"/>
          </a:xfrm>
          <a:prstGeom prst="ellipse">
            <a:avLst/>
          </a:prstGeom>
          <a:solidFill>
            <a:srgbClr val="5FD3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6974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5FD3C4"/>
            </a:solidFill>
            <a:prstDash val="solid"/>
          </a:ln>
        </p:spPr>
      </p:sp>
      <p:pic>
        <p:nvPicPr>
          <p:cNvPr id="21" name="Image 0" descr="lea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59352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77240" y="4572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Data Centers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77240" y="5120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computing and renewable-powered facilities become a baseline expectation, not a differentiator.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51960" y="370332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5FD3C4"/>
            </a:solidFill>
            <a:prstDash val="solid"/>
          </a:ln>
        </p:spPr>
      </p:sp>
      <p:pic>
        <p:nvPicPr>
          <p:cNvPr id="25" name="Image 1" descr="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959352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480560" y="4572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Quantum-Cloud Hybrid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4480560" y="5120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quantum computing services are accessed via the cloud, complementing classical infrastructure for specialized problems.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955280" y="370332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5FD3C4"/>
            </a:solidFill>
            <a:prstDash val="solid"/>
          </a:ln>
        </p:spPr>
      </p:sp>
      <p:pic>
        <p:nvPicPr>
          <p:cNvPr id="29" name="Image 2" descr="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959352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183880" y="4572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&amp; Distributed Cloud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8183880" y="5120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Data-residency rules push providers toward regional, sovereign, and increasingly decentralized infrastructure models.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2026-07-23T07:06:52Z</dcterms:created>
  <dcterms:modified xsi:type="dcterms:W3CDTF">2026-07-23T07:06:52Z</dcterms:modified>
</cp:coreProperties>
</file>